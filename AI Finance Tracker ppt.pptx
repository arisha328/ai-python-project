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2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  <p:sldId id="265" r:id="rId11"/>
    <p:sldId id="269" r:id="rId12"/>
    <p:sldId id="270" r:id="rId13"/>
    <p:sldId id="274" r:id="rId14"/>
    <p:sldId id="275" r:id="rId15"/>
    <p:sldId id="276" r:id="rId16"/>
    <p:sldId id="277" r:id="rId17"/>
    <p:sldId id="266" r:id="rId18"/>
  </p:sldIdLst>
  <p:sldSz cx="14630400" cy="8229600"/>
  <p:notesSz cx="8229600" cy="14630400"/>
  <p:embeddedFontLst>
    <p:embeddedFont>
      <p:font typeface="Poppins Light" panose="00000400000000000000" pitchFamily="2" charset="0"/>
      <p:regular r:id="rId20"/>
    </p:embeddedFont>
    <p:embeddedFont>
      <p:font typeface="Roboto Light" panose="02000000000000000000" pitchFamily="2" charset="0"/>
      <p:regular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7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703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8099701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9077347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shade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shade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shade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shade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shade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shade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shade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5192045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96481775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58263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22848796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5544609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4282644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0970195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95680790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88760502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3142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39922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2239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80713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87159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004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6946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34333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21289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3513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5A625A10-DBD4-4681-99E1-AAC6D7D94345}" type="datetimeFigureOut">
              <a:rPr lang="en-PK" smtClean="0"/>
              <a:t>12/10/2025</a:t>
            </a:fld>
            <a:endParaRPr lang="en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909EEB17-4653-4BFE-B516-FDE4A00EB281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989297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699" r:id="rId17"/>
    <p:sldLayoutId id="2147483700" r:id="rId18"/>
    <p:sldLayoutId id="2147483701" r:id="rId19"/>
    <p:sldLayoutId id="2147483702" r:id="rId20"/>
    <p:sldLayoutId id="2147483703" r:id="rId21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418630"/>
            <a:ext cx="7556421" cy="2835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chemeClr val="bg2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An Intelligent Personal Finance Tracking &amp; Analysis System (Python)</a:t>
            </a:r>
            <a:endParaRPr lang="en-US" sz="4450" dirty="0">
              <a:solidFill>
                <a:schemeClr val="bg2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280190" y="459390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2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Submitted By:</a:t>
            </a:r>
            <a:endParaRPr lang="en-US" sz="1750" dirty="0">
              <a:solidFill>
                <a:schemeClr val="bg2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6280190" y="529697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2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Fiza – Luqman (SP24-BCS-038)</a:t>
            </a:r>
            <a:endParaRPr lang="en-US" sz="1750" dirty="0">
              <a:solidFill>
                <a:schemeClr val="bg2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280190" y="5830014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Jaweria Nasir (SP24-BCS-157)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6280190" y="644806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2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Arisha Inayat (SP24-BCS-159)</a:t>
            </a:r>
            <a:endParaRPr lang="en-US" sz="175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076" y="186094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Introduction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05169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Managing money is challenging without a clear understanding of income, expenses, and spending patterns. Finance tracker designed to help users: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3790" y="403264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Record transactions easily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93790" y="447484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Understand their spending behaviour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93790" y="491704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Receive predictions and insights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93790" y="535924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Improve financial health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93790" y="597729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It is a CLI (Command Line Interface) system — simple, fast, and powerful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4963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66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Project Aim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793790" y="301204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The aim of this project is to build a system that: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3790" y="363009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Keeps track of daily financial activities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93790" y="407229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Analyses user spending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93790" y="451449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Predicts future expenses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93790" y="495669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Detects patterns &amp; unusual behaviour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93790" y="5398889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Helps users make better financial decisions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93790" y="601694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This system works like a personal finance assistant.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17D175-4410-80BB-26C4-207CC4DA58A2}"/>
              </a:ext>
            </a:extLst>
          </p:cNvPr>
          <p:cNvSpPr txBox="1"/>
          <p:nvPr/>
        </p:nvSpPr>
        <p:spPr>
          <a:xfrm>
            <a:off x="3657600" y="3930134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PK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B6F76A-1763-C6A2-FFBF-32D3ABE27791}"/>
              </a:ext>
            </a:extLst>
          </p:cNvPr>
          <p:cNvSpPr txBox="1"/>
          <p:nvPr/>
        </p:nvSpPr>
        <p:spPr>
          <a:xfrm>
            <a:off x="3657600" y="3930134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PK" dirty="0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0FE6235-F8A7-AA4B-A7BA-C22CBA89C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022" y="0"/>
            <a:ext cx="6400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89" y="1628537"/>
            <a:ext cx="642104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2F2F3"/>
                </a:solidFill>
                <a:latin typeface="+mj-lt"/>
                <a:ea typeface="Poppins Light" pitchFamily="34" charset="-122"/>
                <a:cs typeface="Poppins Light" pitchFamily="34" charset="-120"/>
              </a:rPr>
              <a:t>Scope of the System</a:t>
            </a:r>
            <a:endParaRPr lang="en-US" sz="4450" b="1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790944"/>
            <a:ext cx="130428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0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The system supports</a:t>
            </a:r>
            <a:r>
              <a:rPr lang="en-US" sz="175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:</a:t>
            </a:r>
            <a:endParaRPr lang="en-US" sz="1750" b="1" dirty="0">
              <a:latin typeface="+mj-lt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4089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Income management</a:t>
            </a:r>
            <a:endParaRPr lang="en-US" sz="2400" b="1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3790" y="385119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Expense management</a:t>
            </a:r>
            <a:endParaRPr lang="en-US" sz="2400" b="1" dirty="0">
              <a:latin typeface="+mj-lt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3790" y="429339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Monthly &amp; weekly tracking</a:t>
            </a:r>
            <a:endParaRPr lang="en-US" sz="2400" b="1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334538" y="472999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800100" lvl="1" indent="-342900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Predictions and analytics</a:t>
            </a:r>
            <a:endParaRPr lang="en-US" sz="2400" b="1" dirty="0">
              <a:latin typeface="+mj-lt"/>
            </a:endParaRPr>
          </a:p>
        </p:txBody>
      </p:sp>
      <p:sp>
        <p:nvSpPr>
          <p:cNvPr id="8" name="Text 6"/>
          <p:cNvSpPr/>
          <p:nvPr/>
        </p:nvSpPr>
        <p:spPr>
          <a:xfrm>
            <a:off x="793789" y="518362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Budget planning</a:t>
            </a:r>
            <a:endParaRPr lang="en-US" sz="2400" b="1" dirty="0">
              <a:latin typeface="+mj-lt"/>
            </a:endParaRPr>
          </a:p>
        </p:txBody>
      </p:sp>
      <p:sp>
        <p:nvSpPr>
          <p:cNvPr id="9" name="Text 7"/>
          <p:cNvSpPr/>
          <p:nvPr/>
        </p:nvSpPr>
        <p:spPr>
          <a:xfrm>
            <a:off x="793790" y="561998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Smart detection features such as subscriptions and bills</a:t>
            </a:r>
            <a:endParaRPr lang="en-US" sz="2400" b="1" dirty="0">
              <a:latin typeface="+mj-lt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93790" y="623804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It is suitable for students, individuals, freelancers, and households</a:t>
            </a:r>
            <a:r>
              <a:rPr lang="en-US" sz="1750" b="1" dirty="0">
                <a:solidFill>
                  <a:srgbClr val="E5E0DF"/>
                </a:solidFill>
                <a:latin typeface="+mj-lt"/>
                <a:ea typeface="Roboto Light" pitchFamily="34" charset="-122"/>
                <a:cs typeface="Roboto Light" pitchFamily="34" charset="-120"/>
              </a:rPr>
              <a:t>.</a:t>
            </a:r>
            <a:endParaRPr lang="en-US" sz="1750" b="1" dirty="0">
              <a:latin typeface="+mj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79" y="469106"/>
            <a:ext cx="4264819" cy="533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Unique Features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596979" y="1070372"/>
            <a:ext cx="4249103" cy="26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🌟</a:t>
            </a:r>
            <a:r>
              <a:rPr lang="en-US" sz="16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What Makes this project Unique?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96979" y="1848564"/>
            <a:ext cx="4365069" cy="1800820"/>
          </a:xfrm>
          <a:prstGeom prst="roundRect">
            <a:avLst>
              <a:gd name="adj" fmla="val 6093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596979" y="1825704"/>
            <a:ext cx="4365069" cy="91440"/>
          </a:xfrm>
          <a:prstGeom prst="roundRect">
            <a:avLst>
              <a:gd name="adj" fmla="val 78356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Shape 4"/>
          <p:cNvSpPr/>
          <p:nvPr/>
        </p:nvSpPr>
        <p:spPr>
          <a:xfrm>
            <a:off x="2523649" y="1592699"/>
            <a:ext cx="511731" cy="511731"/>
          </a:xfrm>
          <a:prstGeom prst="roundRect">
            <a:avLst>
              <a:gd name="adj" fmla="val 178688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2677120" y="1720572"/>
            <a:ext cx="204668" cy="25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0337" y="2275046"/>
            <a:ext cx="3978354" cy="532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AI-Based Budget Planner (A Algorithm)*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90337" y="2910245"/>
            <a:ext cx="3978354" cy="54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Creates a customized savings plan by calculating category-wise reductions.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32546" y="1848564"/>
            <a:ext cx="4365188" cy="1800820"/>
          </a:xfrm>
          <a:prstGeom prst="roundRect">
            <a:avLst>
              <a:gd name="adj" fmla="val 6093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Shape 9"/>
          <p:cNvSpPr/>
          <p:nvPr/>
        </p:nvSpPr>
        <p:spPr>
          <a:xfrm>
            <a:off x="5132546" y="1825704"/>
            <a:ext cx="4365188" cy="91440"/>
          </a:xfrm>
          <a:prstGeom prst="roundRect">
            <a:avLst>
              <a:gd name="adj" fmla="val 78356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7059216" y="1592699"/>
            <a:ext cx="511731" cy="511731"/>
          </a:xfrm>
          <a:prstGeom prst="roundRect">
            <a:avLst>
              <a:gd name="adj" fmla="val 178688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7212687" y="1720572"/>
            <a:ext cx="204668" cy="25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25904" y="2275046"/>
            <a:ext cx="2797254" cy="26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Expense Prediction System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325904" y="2643783"/>
            <a:ext cx="3978473" cy="54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Predicts next 7 days’ expenses using trend analysis and average models.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68232" y="1848564"/>
            <a:ext cx="4365188" cy="1800820"/>
          </a:xfrm>
          <a:prstGeom prst="roundRect">
            <a:avLst>
              <a:gd name="adj" fmla="val 6093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7" name="Shape 15"/>
          <p:cNvSpPr/>
          <p:nvPr/>
        </p:nvSpPr>
        <p:spPr>
          <a:xfrm>
            <a:off x="9668232" y="1825704"/>
            <a:ext cx="4365188" cy="91440"/>
          </a:xfrm>
          <a:prstGeom prst="roundRect">
            <a:avLst>
              <a:gd name="adj" fmla="val 78356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8" name="Shape 16"/>
          <p:cNvSpPr/>
          <p:nvPr/>
        </p:nvSpPr>
        <p:spPr>
          <a:xfrm>
            <a:off x="11594902" y="1592699"/>
            <a:ext cx="511731" cy="511731"/>
          </a:xfrm>
          <a:prstGeom prst="roundRect">
            <a:avLst>
              <a:gd name="adj" fmla="val 178688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9" name="Text 17"/>
          <p:cNvSpPr/>
          <p:nvPr/>
        </p:nvSpPr>
        <p:spPr>
          <a:xfrm>
            <a:off x="11748373" y="1720572"/>
            <a:ext cx="204668" cy="25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861590" y="2275046"/>
            <a:ext cx="2132409" cy="26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Spike Detection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861590" y="2643783"/>
            <a:ext cx="3978473" cy="54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Finds sudden unusual increases in specific categories.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6979" y="4075748"/>
            <a:ext cx="4365069" cy="1534358"/>
          </a:xfrm>
          <a:prstGeom prst="roundRect">
            <a:avLst>
              <a:gd name="adj" fmla="val 7151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3" name="Shape 21"/>
          <p:cNvSpPr/>
          <p:nvPr/>
        </p:nvSpPr>
        <p:spPr>
          <a:xfrm>
            <a:off x="596979" y="4052888"/>
            <a:ext cx="4365069" cy="91440"/>
          </a:xfrm>
          <a:prstGeom prst="roundRect">
            <a:avLst>
              <a:gd name="adj" fmla="val 78356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4" name="Shape 22"/>
          <p:cNvSpPr/>
          <p:nvPr/>
        </p:nvSpPr>
        <p:spPr>
          <a:xfrm>
            <a:off x="2523649" y="3819882"/>
            <a:ext cx="511731" cy="511731"/>
          </a:xfrm>
          <a:prstGeom prst="roundRect">
            <a:avLst>
              <a:gd name="adj" fmla="val 178688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Text 23"/>
          <p:cNvSpPr/>
          <p:nvPr/>
        </p:nvSpPr>
        <p:spPr>
          <a:xfrm>
            <a:off x="2677120" y="3947755"/>
            <a:ext cx="204668" cy="25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90337" y="4502229"/>
            <a:ext cx="3621881" cy="26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Smart Bill &amp; Subscription Detection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90337" y="4870966"/>
            <a:ext cx="3978354" cy="54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Automatically identifies repeating bills and monthly subscriptions.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132546" y="4075748"/>
            <a:ext cx="4365188" cy="1534358"/>
          </a:xfrm>
          <a:prstGeom prst="roundRect">
            <a:avLst>
              <a:gd name="adj" fmla="val 7151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9" name="Shape 27"/>
          <p:cNvSpPr/>
          <p:nvPr/>
        </p:nvSpPr>
        <p:spPr>
          <a:xfrm>
            <a:off x="5132546" y="4052888"/>
            <a:ext cx="4365188" cy="91440"/>
          </a:xfrm>
          <a:prstGeom prst="roundRect">
            <a:avLst>
              <a:gd name="adj" fmla="val 78356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0" name="Shape 28"/>
          <p:cNvSpPr/>
          <p:nvPr/>
        </p:nvSpPr>
        <p:spPr>
          <a:xfrm>
            <a:off x="7059216" y="3819882"/>
            <a:ext cx="511731" cy="511731"/>
          </a:xfrm>
          <a:prstGeom prst="roundRect">
            <a:avLst>
              <a:gd name="adj" fmla="val 178688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1" name="Text 29"/>
          <p:cNvSpPr/>
          <p:nvPr/>
        </p:nvSpPr>
        <p:spPr>
          <a:xfrm>
            <a:off x="7212687" y="3947755"/>
            <a:ext cx="204668" cy="25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325904" y="4502229"/>
            <a:ext cx="2549604" cy="26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Spending Streak Tracker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5325904" y="4870966"/>
            <a:ext cx="3978473" cy="54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Counts how many days the user stayed under a daily budget.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668232" y="4075748"/>
            <a:ext cx="4365188" cy="1534358"/>
          </a:xfrm>
          <a:prstGeom prst="roundRect">
            <a:avLst>
              <a:gd name="adj" fmla="val 7151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5" name="Shape 33"/>
          <p:cNvSpPr/>
          <p:nvPr/>
        </p:nvSpPr>
        <p:spPr>
          <a:xfrm>
            <a:off x="9668232" y="4052888"/>
            <a:ext cx="4365188" cy="91440"/>
          </a:xfrm>
          <a:prstGeom prst="roundRect">
            <a:avLst>
              <a:gd name="adj" fmla="val 78356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6" name="Shape 34"/>
          <p:cNvSpPr/>
          <p:nvPr/>
        </p:nvSpPr>
        <p:spPr>
          <a:xfrm>
            <a:off x="11594902" y="3819882"/>
            <a:ext cx="511731" cy="511731"/>
          </a:xfrm>
          <a:prstGeom prst="roundRect">
            <a:avLst>
              <a:gd name="adj" fmla="val 178688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7" name="Text 35"/>
          <p:cNvSpPr/>
          <p:nvPr/>
        </p:nvSpPr>
        <p:spPr>
          <a:xfrm>
            <a:off x="11748373" y="3947755"/>
            <a:ext cx="204668" cy="25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861590" y="4502229"/>
            <a:ext cx="3168134" cy="26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Financial Health Score (0–100)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861590" y="4870966"/>
            <a:ext cx="3978473" cy="2728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Rates the user's overall financial stability.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6979" y="6036469"/>
            <a:ext cx="13436441" cy="1261467"/>
          </a:xfrm>
          <a:prstGeom prst="roundRect">
            <a:avLst>
              <a:gd name="adj" fmla="val 8698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1" name="Shape 39"/>
          <p:cNvSpPr/>
          <p:nvPr/>
        </p:nvSpPr>
        <p:spPr>
          <a:xfrm>
            <a:off x="596979" y="6013609"/>
            <a:ext cx="13436441" cy="91440"/>
          </a:xfrm>
          <a:prstGeom prst="roundRect">
            <a:avLst>
              <a:gd name="adj" fmla="val 78356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2" name="Shape 40"/>
          <p:cNvSpPr/>
          <p:nvPr/>
        </p:nvSpPr>
        <p:spPr>
          <a:xfrm>
            <a:off x="7059335" y="5780603"/>
            <a:ext cx="511731" cy="511731"/>
          </a:xfrm>
          <a:prstGeom prst="roundRect">
            <a:avLst>
              <a:gd name="adj" fmla="val 178688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3" name="Text 41"/>
          <p:cNvSpPr/>
          <p:nvPr/>
        </p:nvSpPr>
        <p:spPr>
          <a:xfrm>
            <a:off x="7212806" y="5908477"/>
            <a:ext cx="204668" cy="25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90337" y="6462951"/>
            <a:ext cx="2132409" cy="26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Pareto 80/20 Insight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90337" y="6831687"/>
            <a:ext cx="13049726" cy="2728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Shows top spending categories contributing to 80% of expenses.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96979" y="7489746"/>
            <a:ext cx="13436441" cy="2728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These features make the project highly advanced compared to typical student finance trackers.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finger pointing at a graph&#10;&#10;AI-generated content may be incorrect.">
            <a:extLst>
              <a:ext uri="{FF2B5EF4-FFF2-40B4-BE49-F238E27FC236}">
                <a16:creationId xmlns:a16="http://schemas.microsoft.com/office/drawing/2014/main" id="{76693FA4-CD03-5D38-F229-588DC9FE8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1430" y="389671"/>
            <a:ext cx="6852769" cy="764885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793790" y="2070735"/>
            <a:ext cx="621518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6000" b="1" dirty="0">
                <a:solidFill>
                  <a:srgbClr val="F2F2F3"/>
                </a:solidFill>
                <a:ea typeface="Poppins Light" pitchFamily="34" charset="-122"/>
                <a:cs typeface="Poppins Light" pitchFamily="34" charset="-120"/>
              </a:rPr>
              <a:t>Financial Health Score</a:t>
            </a:r>
            <a:endParaRPr lang="en-US" sz="6000" b="1" dirty="0"/>
          </a:p>
        </p:txBody>
      </p:sp>
      <p:sp>
        <p:nvSpPr>
          <p:cNvPr id="3" name="Text 1"/>
          <p:cNvSpPr/>
          <p:nvPr/>
        </p:nvSpPr>
        <p:spPr>
          <a:xfrm>
            <a:off x="793790" y="323314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solidFill>
                  <a:srgbClr val="E5E0DF"/>
                </a:solidFill>
                <a:ea typeface="Roboto Light" pitchFamily="34" charset="-122"/>
                <a:cs typeface="Roboto Light" pitchFamily="34" charset="-120"/>
              </a:rPr>
              <a:t>A powerful summary feature that calculates:</a:t>
            </a:r>
            <a:endParaRPr lang="en-US" sz="2400" b="1" dirty="0"/>
          </a:p>
        </p:txBody>
      </p:sp>
      <p:sp>
        <p:nvSpPr>
          <p:cNvPr id="4" name="Text 2"/>
          <p:cNvSpPr/>
          <p:nvPr/>
        </p:nvSpPr>
        <p:spPr>
          <a:xfrm>
            <a:off x="793790" y="385119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ea typeface="Roboto Light" pitchFamily="34" charset="-122"/>
                <a:cs typeface="Roboto Light" pitchFamily="34" charset="-120"/>
              </a:rPr>
              <a:t>Savings rate</a:t>
            </a:r>
            <a:endParaRPr lang="en-US" sz="2400" b="1" dirty="0"/>
          </a:p>
        </p:txBody>
      </p:sp>
      <p:sp>
        <p:nvSpPr>
          <p:cNvPr id="5" name="Text 3"/>
          <p:cNvSpPr/>
          <p:nvPr/>
        </p:nvSpPr>
        <p:spPr>
          <a:xfrm>
            <a:off x="793790" y="429339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ea typeface="Roboto Light" pitchFamily="34" charset="-122"/>
                <a:cs typeface="Roboto Light" pitchFamily="34" charset="-120"/>
              </a:rPr>
              <a:t>Spending stability</a:t>
            </a:r>
            <a:endParaRPr lang="en-US" sz="2400" b="1" dirty="0"/>
          </a:p>
        </p:txBody>
      </p:sp>
      <p:sp>
        <p:nvSpPr>
          <p:cNvPr id="6" name="Text 4"/>
          <p:cNvSpPr/>
          <p:nvPr/>
        </p:nvSpPr>
        <p:spPr>
          <a:xfrm>
            <a:off x="793790" y="473559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ea typeface="Roboto Light" pitchFamily="34" charset="-122"/>
                <a:cs typeface="Roboto Light" pitchFamily="34" charset="-120"/>
              </a:rPr>
              <a:t>Category distribution</a:t>
            </a:r>
            <a:endParaRPr lang="en-US" sz="2400" b="1" dirty="0"/>
          </a:p>
        </p:txBody>
      </p:sp>
      <p:sp>
        <p:nvSpPr>
          <p:cNvPr id="7" name="Text 5"/>
          <p:cNvSpPr/>
          <p:nvPr/>
        </p:nvSpPr>
        <p:spPr>
          <a:xfrm>
            <a:off x="793790" y="517779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400" b="1" dirty="0">
                <a:solidFill>
                  <a:srgbClr val="E5E0DF"/>
                </a:solidFill>
                <a:ea typeface="Roboto Light" pitchFamily="34" charset="-122"/>
                <a:cs typeface="Roboto Light" pitchFamily="34" charset="-120"/>
              </a:rPr>
              <a:t>Overall financial behaviour</a:t>
            </a:r>
            <a:endParaRPr lang="en-US" sz="2400" b="1" dirty="0"/>
          </a:p>
        </p:txBody>
      </p:sp>
      <p:sp>
        <p:nvSpPr>
          <p:cNvPr id="8" name="Text 6"/>
          <p:cNvSpPr/>
          <p:nvPr/>
        </p:nvSpPr>
        <p:spPr>
          <a:xfrm>
            <a:off x="793790" y="579584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solidFill>
                  <a:srgbClr val="E5E0DF"/>
                </a:solidFill>
                <a:ea typeface="Roboto Light" pitchFamily="34" charset="-122"/>
                <a:cs typeface="Roboto Light" pitchFamily="34" charset="-120"/>
              </a:rPr>
              <a:t>Score Range: 0–100 Higher score = better financial control.</a:t>
            </a:r>
            <a:endParaRPr lang="en-US" sz="24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64437"/>
            <a:ext cx="759868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System Features (Detailed)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40192"/>
            <a:ext cx="397954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✔</a:t>
            </a:r>
            <a:r>
              <a:rPr lang="en-US" sz="2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Transaction Management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375666"/>
            <a:ext cx="397954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Add, edit, delete income/expense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817864"/>
            <a:ext cx="397954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Auto-category suggestion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260062"/>
            <a:ext cx="397954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Organized records with ID, date, amount, description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334357" y="344019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✔</a:t>
            </a:r>
            <a:r>
              <a:rPr lang="en-US" sz="2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Summaries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334357" y="4021336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Monthly summary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5334357" y="4463534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Weekly breakdown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34357" y="4905732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Net balance calculation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873496" y="344019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✔</a:t>
            </a:r>
            <a:r>
              <a:rPr lang="en-US" sz="2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Analytics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873496" y="4021336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Category-wise breakdown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873496" y="4463534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Expense distribution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873496" y="4905732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High-spending categories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6951" y="2100797"/>
            <a:ext cx="836136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AI-Based Expense Prediction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23314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The system predicts upcoming expenses for specific categories: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385119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Uses linear regression trend for accuracy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29339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Switches to monthly average estimation if data is limited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73559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Helps users prepare for future spending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17779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Prevents unexpected financial stress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579584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This makes the system data-driven and smart.</a:t>
            </a:r>
            <a:endParaRPr lang="en-US" sz="1750" dirty="0"/>
          </a:p>
        </p:txBody>
      </p:sp>
      <p:pic>
        <p:nvPicPr>
          <p:cNvPr id="11" name="Picture 10" descr="A robot holding a tablet&#10;&#10;AI-generated content may be incorrect.">
            <a:extLst>
              <a:ext uri="{FF2B5EF4-FFF2-40B4-BE49-F238E27FC236}">
                <a16:creationId xmlns:a16="http://schemas.microsoft.com/office/drawing/2014/main" id="{8A82CD97-E2FA-09CB-C9B8-2BD74FC36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199" y="540834"/>
            <a:ext cx="6048840" cy="71479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609" y="537924"/>
            <a:ext cx="5833705" cy="611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Expense Spike Detection</a:t>
            </a:r>
            <a:endParaRPr lang="en-US" sz="3850" dirty="0"/>
          </a:p>
        </p:txBody>
      </p:sp>
      <p:sp>
        <p:nvSpPr>
          <p:cNvPr id="3" name="Text 1"/>
          <p:cNvSpPr/>
          <p:nvPr/>
        </p:nvSpPr>
        <p:spPr>
          <a:xfrm>
            <a:off x="684609" y="1540550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This feature compares spending between the current and previous month.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4609" y="2146816"/>
            <a:ext cx="2445306" cy="305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Detects: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4609" y="2745819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Sudden rise in expenses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4609" y="3127177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Overspending habits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4609" y="3508534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New categories where money is spent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4609" y="4041458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It helps users immediately notice harmful financial patterns.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4609" y="4647724"/>
            <a:ext cx="5849779" cy="611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Spending Streak Tracker</a:t>
            </a:r>
            <a:endParaRPr lang="en-US" sz="3850" dirty="0"/>
          </a:p>
        </p:txBody>
      </p:sp>
      <p:sp>
        <p:nvSpPr>
          <p:cNvPr id="10" name="Text 8"/>
          <p:cNvSpPr/>
          <p:nvPr/>
        </p:nvSpPr>
        <p:spPr>
          <a:xfrm>
            <a:off x="684609" y="5552480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Tracks how many days the user stays under a calculated daily budget.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4609" y="6085403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Encourages disciplined spending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4609" y="6466761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Motivates users to save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4609" y="6848118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Builds healthy financial habits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4609" y="7381042"/>
            <a:ext cx="13261181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This is not found in common finance apps or student projects.</a:t>
            </a:r>
            <a:endParaRPr lang="en-US" sz="1500" dirty="0"/>
          </a:p>
        </p:txBody>
      </p:sp>
      <p:pic>
        <p:nvPicPr>
          <p:cNvPr id="3076" name="Picture 4" descr="Premium AI Image | Artistry of Financial Charts generative Artificial ...">
            <a:extLst>
              <a:ext uri="{FF2B5EF4-FFF2-40B4-BE49-F238E27FC236}">
                <a16:creationId xmlns:a16="http://schemas.microsoft.com/office/drawing/2014/main" id="{A47FDD0F-B3DA-6440-5771-0E1FB6A2A7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7862" y="0"/>
            <a:ext cx="7192537" cy="8229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4964" y="671632"/>
            <a:ext cx="5840849" cy="593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 Based Budget Planner*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4964" y="1341239"/>
            <a:ext cx="5985629" cy="296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★ This is the most advanced feature of the project.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4964" y="1714024"/>
            <a:ext cx="2374821" cy="296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How it works: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4964" y="2295763"/>
            <a:ext cx="13300472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User gives a savings target (amount or percentage)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64964" y="2666167"/>
            <a:ext cx="13300472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Algorithm finds the best combination of category reductions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64964" y="3036570"/>
            <a:ext cx="13300472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Considers priority categories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64964" y="3406973"/>
            <a:ext cx="13300472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Allows protecting necessary categories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4964" y="3777377"/>
            <a:ext cx="13300472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Generates a clear reduction plan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4964" y="4295061"/>
            <a:ext cx="13300472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This adds AI thinking into your finance system.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4964" y="4883944"/>
            <a:ext cx="6482001" cy="593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Smart Automation Features</a:t>
            </a:r>
            <a:endParaRPr lang="en-US" sz="3700" dirty="0"/>
          </a:p>
        </p:txBody>
      </p:sp>
      <p:sp>
        <p:nvSpPr>
          <p:cNvPr id="12" name="Text 10"/>
          <p:cNvSpPr/>
          <p:nvPr/>
        </p:nvSpPr>
        <p:spPr>
          <a:xfrm>
            <a:off x="664964" y="5952411"/>
            <a:ext cx="2374821" cy="304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✔</a:t>
            </a:r>
            <a:r>
              <a:rPr lang="en-US" sz="1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Bill Detection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664964" y="6446758"/>
            <a:ext cx="4125397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Detects electricity, rent, internet bill patterns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4964" y="6817162"/>
            <a:ext cx="4125397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Predicts next due date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4964" y="7187565"/>
            <a:ext cx="4125397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Helps avoid late payments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261372" y="5952411"/>
            <a:ext cx="3015496" cy="304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✔</a:t>
            </a:r>
            <a:r>
              <a:rPr lang="en-US" sz="1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Subscription Detection</a:t>
            </a:r>
            <a:endParaRPr lang="en-US" sz="1850" dirty="0"/>
          </a:p>
        </p:txBody>
      </p:sp>
      <p:sp>
        <p:nvSpPr>
          <p:cNvPr id="17" name="Text 15"/>
          <p:cNvSpPr/>
          <p:nvPr/>
        </p:nvSpPr>
        <p:spPr>
          <a:xfrm>
            <a:off x="5261372" y="6446758"/>
            <a:ext cx="4124087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Finds recurring monthly expenses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261372" y="6817162"/>
            <a:ext cx="4124087" cy="607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Helps users reduce unnecessary subscriptions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856470" y="5952411"/>
            <a:ext cx="2711768" cy="304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✔</a:t>
            </a:r>
            <a:r>
              <a:rPr lang="en-US" sz="1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Pareto 80/20 Insight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9856470" y="6446758"/>
            <a:ext cx="4124087" cy="607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Shows top categories responsible for 80% of spending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856470" y="7121128"/>
            <a:ext cx="4124087" cy="3039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Enables smarter budgeting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960120" y="1789612"/>
            <a:ext cx="4000499" cy="4198924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E15606-9CAC-8C1A-E1A1-1DCD0D48FFC5}"/>
              </a:ext>
            </a:extLst>
          </p:cNvPr>
          <p:cNvSpPr txBox="1"/>
          <p:nvPr/>
        </p:nvSpPr>
        <p:spPr>
          <a:xfrm>
            <a:off x="1234440" y="2360719"/>
            <a:ext cx="3154680" cy="305670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3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CODE OUTPUT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D97077-750D-3902-CEA6-F526F99B5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567" y="1088293"/>
            <a:ext cx="8436254" cy="6053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344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65A005-0C0F-0C41-5277-933BD3677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659" y="267591"/>
            <a:ext cx="9896358" cy="7694417"/>
          </a:xfrm>
          <a:prstGeom prst="rect">
            <a:avLst/>
          </a:prstGeom>
        </p:spPr>
      </p:pic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2250195" y="0"/>
            <a:ext cx="2380205" cy="82296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684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60603A9-13AB-8A95-3ED7-E1473FD06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996" y="492087"/>
            <a:ext cx="8240275" cy="3143689"/>
          </a:xfrm>
          <a:prstGeom prst="rect">
            <a:avLst/>
          </a:prstGeom>
        </p:spPr>
      </p:pic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CC9FF6E5-BA31-054A-6CBC-6DCB6D65F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996" y="4114800"/>
            <a:ext cx="8240275" cy="33532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578685-2C39-E31A-82C3-C160D50044BA}"/>
              </a:ext>
            </a:extLst>
          </p:cNvPr>
          <p:cNvSpPr txBox="1"/>
          <p:nvPr/>
        </p:nvSpPr>
        <p:spPr>
          <a:xfrm>
            <a:off x="541421" y="1804737"/>
            <a:ext cx="2875547" cy="369332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ADD TRANSACTION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84F5AF-2248-CA6D-4CC9-D0BCCB33D5EE}"/>
              </a:ext>
            </a:extLst>
          </p:cNvPr>
          <p:cNvSpPr txBox="1"/>
          <p:nvPr/>
        </p:nvSpPr>
        <p:spPr>
          <a:xfrm>
            <a:off x="360947" y="4908884"/>
            <a:ext cx="3056021" cy="369332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+mj-lt"/>
                <a:ea typeface="ADLaM Display" panose="020F0502020204030204" pitchFamily="2" charset="0"/>
                <a:cs typeface="Times New Roman" panose="02020603050405020304" pitchFamily="18" charset="0"/>
              </a:rPr>
              <a:t>EDIT TRANSACTION</a:t>
            </a:r>
          </a:p>
        </p:txBody>
      </p:sp>
    </p:spTree>
    <p:extLst>
      <p:ext uri="{BB962C8B-B14F-4D97-AF65-F5344CB8AC3E}">
        <p14:creationId xmlns:p14="http://schemas.microsoft.com/office/powerpoint/2010/main" val="2289537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ABEEF6-C144-0CDA-4661-F74034632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332" y="772159"/>
            <a:ext cx="12613735" cy="668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889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FD7E55A-DF8F-36D1-9AFB-E6023D998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226" y="968083"/>
            <a:ext cx="8745170" cy="3381847"/>
          </a:xfrm>
          <a:prstGeom prst="rect">
            <a:avLst/>
          </a:prstGeom>
        </p:spPr>
      </p:pic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449C26CB-1A64-EDD6-2530-75FBD6F06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226" y="5043792"/>
            <a:ext cx="8833333" cy="16443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896E80-11B0-41EC-4995-A6B7A76BA04C}"/>
              </a:ext>
            </a:extLst>
          </p:cNvPr>
          <p:cNvSpPr txBox="1"/>
          <p:nvPr/>
        </p:nvSpPr>
        <p:spPr>
          <a:xfrm>
            <a:off x="412168" y="2181496"/>
            <a:ext cx="3840480" cy="369332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SPIKE DETECTION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32A84-BA1A-B3B2-DFB0-A0FCB708B7DD}"/>
              </a:ext>
            </a:extLst>
          </p:cNvPr>
          <p:cNvSpPr txBox="1"/>
          <p:nvPr/>
        </p:nvSpPr>
        <p:spPr>
          <a:xfrm>
            <a:off x="496389" y="5120642"/>
            <a:ext cx="3840480" cy="369332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FINANCIAL HEALTH SCORE</a:t>
            </a:r>
          </a:p>
        </p:txBody>
      </p:sp>
    </p:spTree>
    <p:extLst>
      <p:ext uri="{BB962C8B-B14F-4D97-AF65-F5344CB8AC3E}">
        <p14:creationId xmlns:p14="http://schemas.microsoft.com/office/powerpoint/2010/main" val="10288282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1E0BCC2-989B-12FB-47F1-CF7E9DACD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77" y="751241"/>
            <a:ext cx="10353667" cy="2762668"/>
          </a:xfrm>
          <a:prstGeom prst="rect">
            <a:avLst/>
          </a:prstGeom>
        </p:spPr>
      </p:pic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994811C-13F0-F467-568F-5E956EF0F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877" y="3918856"/>
            <a:ext cx="10417039" cy="2664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951F90-D1A9-49BE-CBFE-44C5FED93783}"/>
              </a:ext>
            </a:extLst>
          </p:cNvPr>
          <p:cNvSpPr txBox="1"/>
          <p:nvPr/>
        </p:nvSpPr>
        <p:spPr>
          <a:xfrm>
            <a:off x="274664" y="1658982"/>
            <a:ext cx="2651760" cy="369332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SMART BILL REMINDER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C770AE-5302-23E8-98FF-8CAA58348DFB}"/>
              </a:ext>
            </a:extLst>
          </p:cNvPr>
          <p:cNvSpPr txBox="1"/>
          <p:nvPr/>
        </p:nvSpPr>
        <p:spPr>
          <a:xfrm>
            <a:off x="160095" y="4785682"/>
            <a:ext cx="2880898" cy="369332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PARETO INSIGHT</a:t>
            </a:r>
          </a:p>
        </p:txBody>
      </p:sp>
    </p:spTree>
    <p:extLst>
      <p:ext uri="{BB962C8B-B14F-4D97-AF65-F5344CB8AC3E}">
        <p14:creationId xmlns:p14="http://schemas.microsoft.com/office/powerpoint/2010/main" val="1869945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ank You Wallpapers - Top Free Thank You Backgrounds - WallpaperAccess">
            <a:extLst>
              <a:ext uri="{FF2B5EF4-FFF2-40B4-BE49-F238E27FC236}">
                <a16:creationId xmlns:a16="http://schemas.microsoft.com/office/drawing/2014/main" id="{41EB8668-4AB1-A302-5F11-60CB7FE31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630400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962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</TotalTime>
  <Words>634</Words>
  <Application>Microsoft Office PowerPoint</Application>
  <PresentationFormat>Custom</PresentationFormat>
  <Paragraphs>130</Paragraphs>
  <Slides>17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Poppins Light</vt:lpstr>
      <vt:lpstr>Aptos Display</vt:lpstr>
      <vt:lpstr>Roboto Light</vt:lpstr>
      <vt:lpstr>Arial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Jaweria Goraya</dc:creator>
  <cp:lastModifiedBy>Fiza Luqman</cp:lastModifiedBy>
  <cp:revision>5</cp:revision>
  <dcterms:created xsi:type="dcterms:W3CDTF">2025-12-10T15:24:50Z</dcterms:created>
  <dcterms:modified xsi:type="dcterms:W3CDTF">2025-12-10T17:24:08Z</dcterms:modified>
</cp:coreProperties>
</file>