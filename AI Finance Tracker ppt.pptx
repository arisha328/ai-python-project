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9" r:id="rId12"/>
    <p:sldId id="270" r:id="rId13"/>
    <p:sldId id="274" r:id="rId14"/>
    <p:sldId id="275" r:id="rId15"/>
    <p:sldId id="276" r:id="rId16"/>
    <p:sldId id="277" r:id="rId17"/>
    <p:sldId id="266" r:id="rId18"/>
  </p:sldIdLst>
  <p:sldSz cx="14630400" cy="8229600"/>
  <p:notesSz cx="8229600" cy="14630400"/>
  <p:embeddedFontLst>
    <p:embeddedFont>
      <p:font typeface="Poppins Light" panose="00000400000000000000" pitchFamily="2" charset="0"/>
      <p:regular r:id="rId20"/>
    </p:embeddedFont>
    <p:embeddedFont>
      <p:font typeface="Roboto Light" panose="02000000000000000000" pitchFamily="2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03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809970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07734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shade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shade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shade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shade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shade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shade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shade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19204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48177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5826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84879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54460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428264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970195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568079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876050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314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3992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23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071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715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004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946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433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1289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51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A625A10-DBD4-4681-99E1-AAC6D7D94345}" type="datetimeFigureOut">
              <a:rPr lang="en-PK" smtClean="0"/>
              <a:t>12/10/2025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09EEB17-4653-4BFE-B516-FDE4A00EB2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89297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18630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 Intelligent Personal Finance Tracking &amp; Analysis System (Python)</a:t>
            </a:r>
            <a:endParaRPr lang="en-US" sz="4450" dirty="0">
              <a:solidFill>
                <a:schemeClr val="bg2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59390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Submitted By: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52969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Fiza – Luqman (SP24-BCS-038)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58300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Jaweria Nasir (SP24-BCS-157)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64480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Arisha Inayat (SP24-BCS-159)</a:t>
            </a:r>
            <a:endParaRPr lang="en-US" sz="175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076" y="18609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516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Managing money is challenging without a clear understanding of income, expenses, and spending patterns. Finance tracker designed to help users: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40326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Record transactions easily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3790" y="44748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Understand their spending behaviour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3790" y="49170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Receive predictions and insights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3790" y="53592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Improve financial health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93790" y="5977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It is a CLI (Command Line Interface) system — simple, fast, and powerful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96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Aim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93790" y="30120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aim of this project is to build a system that: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Keeps track of daily financial activities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Analyses user spending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Predicts future expenses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Detects patterns &amp; unusual behaviour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Helps users make better financial decisions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93790" y="60169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system works like a personal finance assistant.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7D175-4410-80BB-26C4-207CC4DA58A2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PK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6F76A-1763-C6A2-FFBF-32D3ABE27791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PK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FE6235-F8A7-AA4B-A7BA-C22CBA89C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022" y="0"/>
            <a:ext cx="6400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1628537"/>
            <a:ext cx="64210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F2F3"/>
                </a:solidFill>
                <a:latin typeface="+mj-lt"/>
                <a:ea typeface="Poppins Light" pitchFamily="34" charset="-122"/>
                <a:cs typeface="Poppins Light" pitchFamily="34" charset="-120"/>
              </a:rPr>
              <a:t>Scope of the System</a:t>
            </a:r>
            <a:endParaRPr lang="en-US" sz="445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90944"/>
            <a:ext cx="130428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+mj-lt"/>
                <a:ea typeface="Roboto Light" pitchFamily="34" charset="-122"/>
                <a:cs typeface="Roboto Light" pitchFamily="34" charset="-120"/>
              </a:rPr>
              <a:t>The system supports</a:t>
            </a:r>
            <a:r>
              <a:rPr lang="en-US" sz="1750" b="1" dirty="0">
                <a:solidFill>
                  <a:srgbClr val="E5E0DF"/>
                </a:solidFill>
                <a:latin typeface="+mj-lt"/>
                <a:ea typeface="Roboto Light" pitchFamily="34" charset="-122"/>
                <a:cs typeface="Roboto Light" pitchFamily="34" charset="-120"/>
              </a:rPr>
              <a:t>:</a:t>
            </a:r>
            <a:endParaRPr lang="en-US" sz="1750" b="1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089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E5E0DF"/>
                </a:solidFill>
                <a:latin typeface="+mj-lt"/>
                <a:ea typeface="Roboto Light" pitchFamily="34" charset="-122"/>
                <a:cs typeface="Roboto Light" pitchFamily="34" charset="-120"/>
              </a:rPr>
              <a:t>Income management</a:t>
            </a:r>
            <a:endParaRPr lang="en-US" sz="2400" b="1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E5E0DF"/>
                </a:solidFill>
                <a:latin typeface="+mj-lt"/>
                <a:ea typeface="Roboto Light" pitchFamily="34" charset="-122"/>
                <a:cs typeface="Roboto Light" pitchFamily="34" charset="-120"/>
              </a:rPr>
              <a:t>Expense management</a:t>
            </a:r>
            <a:endParaRPr lang="en-US" sz="2400" b="1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E5E0DF"/>
                </a:solidFill>
                <a:latin typeface="+mj-lt"/>
                <a:ea typeface="Roboto Light" pitchFamily="34" charset="-122"/>
                <a:cs typeface="Roboto Light" pitchFamily="34" charset="-120"/>
              </a:rPr>
              <a:t>Monthly &amp; weekly tracking</a:t>
            </a:r>
            <a:endParaRPr lang="en-US" sz="2400" b="1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4538" y="47299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800100" lvl="1" indent="-342900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E5E0DF"/>
                </a:solidFill>
                <a:latin typeface="+mj-lt"/>
                <a:ea typeface="Roboto Light" pitchFamily="34" charset="-122"/>
                <a:cs typeface="Roboto Light" pitchFamily="34" charset="-120"/>
              </a:rPr>
              <a:t>Predictions and analytics</a:t>
            </a:r>
            <a:endParaRPr lang="en-US" sz="2400" b="1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89" y="51836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E5E0DF"/>
                </a:solidFill>
                <a:latin typeface="+mj-lt"/>
                <a:ea typeface="Roboto Light" pitchFamily="34" charset="-122"/>
                <a:cs typeface="Roboto Light" pitchFamily="34" charset="-120"/>
              </a:rPr>
              <a:t>Budget planning</a:t>
            </a:r>
            <a:endParaRPr lang="en-US" sz="2400" b="1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6199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E5E0DF"/>
                </a:solidFill>
                <a:latin typeface="+mj-lt"/>
                <a:ea typeface="Roboto Light" pitchFamily="34" charset="-122"/>
                <a:cs typeface="Roboto Light" pitchFamily="34" charset="-120"/>
              </a:rPr>
              <a:t>Smart detection features such as subscriptions and bills</a:t>
            </a:r>
            <a:endParaRPr lang="en-US" sz="2400" b="1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62380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+mj-lt"/>
                <a:ea typeface="Roboto Light" pitchFamily="34" charset="-122"/>
                <a:cs typeface="Roboto Light" pitchFamily="34" charset="-120"/>
              </a:rPr>
              <a:t>It is suitable for students, individuals, freelancers, and households</a:t>
            </a:r>
            <a:r>
              <a:rPr lang="en-US" sz="1750" b="1" dirty="0">
                <a:solidFill>
                  <a:srgbClr val="E5E0DF"/>
                </a:solidFill>
                <a:latin typeface="+mj-lt"/>
                <a:ea typeface="Roboto Light" pitchFamily="34" charset="-122"/>
                <a:cs typeface="Roboto Light" pitchFamily="34" charset="-120"/>
              </a:rPr>
              <a:t>.</a:t>
            </a:r>
            <a:endParaRPr lang="en-US" sz="1750" b="1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979" y="469106"/>
            <a:ext cx="4264819" cy="53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Unique Features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96979" y="1070372"/>
            <a:ext cx="424910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🌟</a:t>
            </a:r>
            <a:r>
              <a:rPr lang="en-US" sz="1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What Makes this project Unique?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96979" y="1848564"/>
            <a:ext cx="4365069" cy="1800820"/>
          </a:xfrm>
          <a:prstGeom prst="roundRect">
            <a:avLst>
              <a:gd name="adj" fmla="val 6093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596979" y="1825704"/>
            <a:ext cx="4365069" cy="91440"/>
          </a:xfrm>
          <a:prstGeom prst="roundRect">
            <a:avLst>
              <a:gd name="adj" fmla="val 78356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523649" y="1592699"/>
            <a:ext cx="511731" cy="511731"/>
          </a:xfrm>
          <a:prstGeom prst="roundRect">
            <a:avLst>
              <a:gd name="adj" fmla="val 178688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677120" y="1720572"/>
            <a:ext cx="20466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0337" y="2275046"/>
            <a:ext cx="3978354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AI-Based Budget Planner (A Algorithm)*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90337" y="2910245"/>
            <a:ext cx="3978354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Creates a customized savings plan by calculating category-wise reductions.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32546" y="1848564"/>
            <a:ext cx="4365188" cy="1800820"/>
          </a:xfrm>
          <a:prstGeom prst="roundRect">
            <a:avLst>
              <a:gd name="adj" fmla="val 6093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5132546" y="1825704"/>
            <a:ext cx="4365188" cy="91440"/>
          </a:xfrm>
          <a:prstGeom prst="roundRect">
            <a:avLst>
              <a:gd name="adj" fmla="val 78356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7059216" y="1592699"/>
            <a:ext cx="511731" cy="511731"/>
          </a:xfrm>
          <a:prstGeom prst="roundRect">
            <a:avLst>
              <a:gd name="adj" fmla="val 178688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7212687" y="1720572"/>
            <a:ext cx="20466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25904" y="2275046"/>
            <a:ext cx="2797254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Expense Prediction System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25904" y="2643783"/>
            <a:ext cx="3978473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Predicts next 7 days’ expenses using trend analysis and average models.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68232" y="1848564"/>
            <a:ext cx="4365188" cy="1800820"/>
          </a:xfrm>
          <a:prstGeom prst="roundRect">
            <a:avLst>
              <a:gd name="adj" fmla="val 6093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9668232" y="1825704"/>
            <a:ext cx="4365188" cy="91440"/>
          </a:xfrm>
          <a:prstGeom prst="roundRect">
            <a:avLst>
              <a:gd name="adj" fmla="val 78356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11594902" y="1592699"/>
            <a:ext cx="511731" cy="511731"/>
          </a:xfrm>
          <a:prstGeom prst="roundRect">
            <a:avLst>
              <a:gd name="adj" fmla="val 178688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11748373" y="1720572"/>
            <a:ext cx="20466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61590" y="2275046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Spike Detection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861590" y="2643783"/>
            <a:ext cx="3978473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Finds sudden unusual increases in specific categories.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6979" y="4075748"/>
            <a:ext cx="4365069" cy="1534358"/>
          </a:xfrm>
          <a:prstGeom prst="roundRect">
            <a:avLst>
              <a:gd name="adj" fmla="val 7151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596979" y="4052888"/>
            <a:ext cx="4365069" cy="91440"/>
          </a:xfrm>
          <a:prstGeom prst="roundRect">
            <a:avLst>
              <a:gd name="adj" fmla="val 78356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2523649" y="3819882"/>
            <a:ext cx="511731" cy="511731"/>
          </a:xfrm>
          <a:prstGeom prst="roundRect">
            <a:avLst>
              <a:gd name="adj" fmla="val 178688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2677120" y="3947755"/>
            <a:ext cx="20466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0337" y="4502229"/>
            <a:ext cx="3621881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Smart Bill &amp; Subscription Detection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90337" y="4870966"/>
            <a:ext cx="3978354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Automatically identifies repeating bills and monthly subscriptions.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32546" y="4075748"/>
            <a:ext cx="4365188" cy="1534358"/>
          </a:xfrm>
          <a:prstGeom prst="roundRect">
            <a:avLst>
              <a:gd name="adj" fmla="val 7151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5132546" y="4052888"/>
            <a:ext cx="4365188" cy="91440"/>
          </a:xfrm>
          <a:prstGeom prst="roundRect">
            <a:avLst>
              <a:gd name="adj" fmla="val 78356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7059216" y="3819882"/>
            <a:ext cx="511731" cy="511731"/>
          </a:xfrm>
          <a:prstGeom prst="roundRect">
            <a:avLst>
              <a:gd name="adj" fmla="val 178688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7212687" y="3947755"/>
            <a:ext cx="20466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5904" y="4502229"/>
            <a:ext cx="2549604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Spending Streak Tracker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325904" y="4870966"/>
            <a:ext cx="3978473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Counts how many days the user stayed under a daily budget.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668232" y="4075748"/>
            <a:ext cx="4365188" cy="1534358"/>
          </a:xfrm>
          <a:prstGeom prst="roundRect">
            <a:avLst>
              <a:gd name="adj" fmla="val 7151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9668232" y="4052888"/>
            <a:ext cx="4365188" cy="91440"/>
          </a:xfrm>
          <a:prstGeom prst="roundRect">
            <a:avLst>
              <a:gd name="adj" fmla="val 78356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11594902" y="3819882"/>
            <a:ext cx="511731" cy="511731"/>
          </a:xfrm>
          <a:prstGeom prst="roundRect">
            <a:avLst>
              <a:gd name="adj" fmla="val 178688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11748373" y="3947755"/>
            <a:ext cx="20466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861590" y="4502229"/>
            <a:ext cx="3168134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Financial Health Score (0–100)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861590" y="4870966"/>
            <a:ext cx="3978473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Rates the user's overall financial stability.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96979" y="6036469"/>
            <a:ext cx="13436441" cy="1261467"/>
          </a:xfrm>
          <a:prstGeom prst="roundRect">
            <a:avLst>
              <a:gd name="adj" fmla="val 8698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596979" y="6013609"/>
            <a:ext cx="13436441" cy="91440"/>
          </a:xfrm>
          <a:prstGeom prst="roundRect">
            <a:avLst>
              <a:gd name="adj" fmla="val 78356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7059335" y="5780603"/>
            <a:ext cx="511731" cy="511731"/>
          </a:xfrm>
          <a:prstGeom prst="roundRect">
            <a:avLst>
              <a:gd name="adj" fmla="val 178688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7212806" y="5908477"/>
            <a:ext cx="20466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0337" y="6462951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Pareto 80/20 Insight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90337" y="6831687"/>
            <a:ext cx="13049726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Shows top spending categories contributing to 80% of expenses.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96979" y="7489746"/>
            <a:ext cx="1343644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These features make the project highly advanced compared to typical student finance trackers.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finger pointing at a graph&#10;&#10;AI-generated content may be incorrect.">
            <a:extLst>
              <a:ext uri="{FF2B5EF4-FFF2-40B4-BE49-F238E27FC236}">
                <a16:creationId xmlns:a16="http://schemas.microsoft.com/office/drawing/2014/main" id="{76693FA4-CD03-5D38-F229-588DC9FE8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430" y="389671"/>
            <a:ext cx="6852769" cy="76488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2070735"/>
            <a:ext cx="62151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F2F2F3"/>
                </a:solidFill>
                <a:ea typeface="Poppins Light" pitchFamily="34" charset="-122"/>
                <a:cs typeface="Poppins Light" pitchFamily="34" charset="-120"/>
              </a:rPr>
              <a:t>Financial Health Score</a:t>
            </a:r>
            <a:endParaRPr lang="en-US" sz="6000" b="1" dirty="0"/>
          </a:p>
        </p:txBody>
      </p:sp>
      <p:sp>
        <p:nvSpPr>
          <p:cNvPr id="3" name="Text 1"/>
          <p:cNvSpPr/>
          <p:nvPr/>
        </p:nvSpPr>
        <p:spPr>
          <a:xfrm>
            <a:off x="793790" y="32331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ea typeface="Roboto Light" pitchFamily="34" charset="-122"/>
                <a:cs typeface="Roboto Light" pitchFamily="34" charset="-120"/>
              </a:rPr>
              <a:t>A powerful summary feature that calculates:</a:t>
            </a:r>
            <a:endParaRPr lang="en-US" sz="2400" b="1" dirty="0"/>
          </a:p>
        </p:txBody>
      </p:sp>
      <p:sp>
        <p:nvSpPr>
          <p:cNvPr id="4" name="Text 2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E5E0DF"/>
                </a:solidFill>
                <a:ea typeface="Roboto Light" pitchFamily="34" charset="-122"/>
                <a:cs typeface="Roboto Light" pitchFamily="34" charset="-120"/>
              </a:rPr>
              <a:t>Savings rate</a:t>
            </a:r>
            <a:endParaRPr lang="en-US" sz="2400" b="1" dirty="0"/>
          </a:p>
        </p:txBody>
      </p:sp>
      <p:sp>
        <p:nvSpPr>
          <p:cNvPr id="5" name="Text 3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E5E0DF"/>
                </a:solidFill>
                <a:ea typeface="Roboto Light" pitchFamily="34" charset="-122"/>
                <a:cs typeface="Roboto Light" pitchFamily="34" charset="-120"/>
              </a:rPr>
              <a:t>Spending stability</a:t>
            </a:r>
            <a:endParaRPr lang="en-US" sz="2400" b="1" dirty="0"/>
          </a:p>
        </p:txBody>
      </p:sp>
      <p:sp>
        <p:nvSpPr>
          <p:cNvPr id="6" name="Text 4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E5E0DF"/>
                </a:solidFill>
                <a:ea typeface="Roboto Light" pitchFamily="34" charset="-122"/>
                <a:cs typeface="Roboto Light" pitchFamily="34" charset="-120"/>
              </a:rPr>
              <a:t>Category distribution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E5E0DF"/>
                </a:solidFill>
                <a:ea typeface="Roboto Light" pitchFamily="34" charset="-122"/>
                <a:cs typeface="Roboto Light" pitchFamily="34" charset="-120"/>
              </a:rPr>
              <a:t>Overall financial behaviour</a:t>
            </a:r>
            <a:endParaRPr lang="en-US" sz="2400" b="1" dirty="0"/>
          </a:p>
        </p:txBody>
      </p:sp>
      <p:sp>
        <p:nvSpPr>
          <p:cNvPr id="8" name="Text 6"/>
          <p:cNvSpPr/>
          <p:nvPr/>
        </p:nvSpPr>
        <p:spPr>
          <a:xfrm>
            <a:off x="793790" y="57958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ea typeface="Roboto Light" pitchFamily="34" charset="-122"/>
                <a:cs typeface="Roboto Light" pitchFamily="34" charset="-120"/>
              </a:rPr>
              <a:t>Score Range: 0–100 Higher score = better financial control.</a:t>
            </a:r>
            <a:endParaRPr lang="en-US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4437"/>
            <a:ext cx="75986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Features (Detailed)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40192"/>
            <a:ext cx="397954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✔</a:t>
            </a: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Transaction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5666"/>
            <a:ext cx="39795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Add, edit, delete income/expense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17864"/>
            <a:ext cx="39795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Auto-category suggestion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0062"/>
            <a:ext cx="39795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Organized records with ID, date, amount, description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4357" y="34401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✔</a:t>
            </a: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Summaries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357" y="4021336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Monthly summary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4357" y="4463534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Weekly breakdown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34357" y="490573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Net balance calculation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3496" y="34401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✔</a:t>
            </a: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Analytics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3496" y="4021336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Category-wise breakdown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73496" y="4463534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Expense distribution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873496" y="490573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High-spending categories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951" y="2100797"/>
            <a:ext cx="83613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AI-Based Expense Prediction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331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system predicts upcoming expenses for specific categories: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Uses linear regression trend for accuracy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Switches to monthly average estimation if data is limited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Helps users prepare for future spending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Prevents unexpected financial stress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958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makes the system data-driven and smart.</a:t>
            </a:r>
            <a:endParaRPr lang="en-US" sz="1750" dirty="0"/>
          </a:p>
        </p:txBody>
      </p:sp>
      <p:pic>
        <p:nvPicPr>
          <p:cNvPr id="11" name="Picture 10" descr="A robot holding a tablet&#10;&#10;AI-generated content may be incorrect.">
            <a:extLst>
              <a:ext uri="{FF2B5EF4-FFF2-40B4-BE49-F238E27FC236}">
                <a16:creationId xmlns:a16="http://schemas.microsoft.com/office/drawing/2014/main" id="{8A82CD97-E2FA-09CB-C9B8-2BD74FC36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199" y="540834"/>
            <a:ext cx="6048840" cy="71479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609" y="537924"/>
            <a:ext cx="5833705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Expense Spike Detection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4609" y="1540550"/>
            <a:ext cx="132611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feature compares spending between the current and previous month.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4609" y="2146816"/>
            <a:ext cx="2445306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Detects: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4609" y="2745819"/>
            <a:ext cx="132611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Sudden rise in expenses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4609" y="3127177"/>
            <a:ext cx="132611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Overspending habits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4609" y="3508534"/>
            <a:ext cx="132611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New categories where money is spent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4609" y="4041458"/>
            <a:ext cx="132611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It helps users immediately notice harmful financial patterns.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4609" y="4647724"/>
            <a:ext cx="584977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Spending Streak Tracker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684609" y="5552480"/>
            <a:ext cx="132611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Tracks how many days the user stays under a calculated daily budget.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4609" y="6085403"/>
            <a:ext cx="132611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Encourages disciplined spending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4609" y="6466761"/>
            <a:ext cx="132611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Motivates users to save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4609" y="6848118"/>
            <a:ext cx="132611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Builds healthy financial habits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4609" y="7381042"/>
            <a:ext cx="132611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is not found in common finance apps or student projects.</a:t>
            </a:r>
            <a:endParaRPr lang="en-US" sz="1500" dirty="0"/>
          </a:p>
        </p:txBody>
      </p:sp>
      <p:pic>
        <p:nvPicPr>
          <p:cNvPr id="3076" name="Picture 4" descr="Premium AI Image | Artistry of Financial Charts generative Artificial ...">
            <a:extLst>
              <a:ext uri="{FF2B5EF4-FFF2-40B4-BE49-F238E27FC236}">
                <a16:creationId xmlns:a16="http://schemas.microsoft.com/office/drawing/2014/main" id="{A47FDD0F-B3DA-6440-5771-0E1FB6A2A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862" y="0"/>
            <a:ext cx="7192537" cy="822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964" y="671632"/>
            <a:ext cx="5840849" cy="593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Based Budget Planner*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4964" y="1341239"/>
            <a:ext cx="5985629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★ This is the most advanced feature of the project.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4964" y="1714024"/>
            <a:ext cx="2374821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it works: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4964" y="2295763"/>
            <a:ext cx="1330047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gives a savings target (amount or percentage)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4964" y="2666167"/>
            <a:ext cx="1330047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Algorithm finds the best combination of category reductions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4964" y="3036570"/>
            <a:ext cx="1330047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Considers priority categories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4964" y="3406973"/>
            <a:ext cx="1330047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Allows protecting necessary categories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4964" y="3777377"/>
            <a:ext cx="1330047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Generates a clear reduction plan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4964" y="4295061"/>
            <a:ext cx="13300472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adds AI thinking into your finance system.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4964" y="4883944"/>
            <a:ext cx="6482001" cy="593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Smart Automation Features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664964" y="5952411"/>
            <a:ext cx="2374821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✔</a:t>
            </a: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Bill Detection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64964" y="6446758"/>
            <a:ext cx="4125397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Detects electricity, rent, internet bill patterns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4964" y="6817162"/>
            <a:ext cx="4125397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Predicts next due date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4964" y="7187565"/>
            <a:ext cx="4125397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Helps avoid late payments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261372" y="5952411"/>
            <a:ext cx="3015496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✔</a:t>
            </a: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Subscription Detection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5261372" y="6446758"/>
            <a:ext cx="4124087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Finds recurring monthly expenses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61372" y="6817162"/>
            <a:ext cx="4124087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Helps users reduce unnecessary subscriptions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856470" y="5952411"/>
            <a:ext cx="2711768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✔</a:t>
            </a: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Pareto 80/20 Insight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9856470" y="6446758"/>
            <a:ext cx="4124087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Shows top categories responsible for 80% of spending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856470" y="7121128"/>
            <a:ext cx="4124087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Enables smarter budgeting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60120" y="1789612"/>
            <a:ext cx="4000499" cy="4198924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E15606-9CAC-8C1A-E1A1-1DCD0D48FFC5}"/>
              </a:ext>
            </a:extLst>
          </p:cNvPr>
          <p:cNvSpPr txBox="1"/>
          <p:nvPr/>
        </p:nvSpPr>
        <p:spPr>
          <a:xfrm>
            <a:off x="1234440" y="2360719"/>
            <a:ext cx="3154680" cy="305670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 OUTPUT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D97077-750D-3902-CEA6-F526F99B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567" y="1088293"/>
            <a:ext cx="8436254" cy="605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44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65A005-0C0F-0C41-5277-933BD3677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659" y="267591"/>
            <a:ext cx="9896358" cy="7694417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250195" y="0"/>
            <a:ext cx="2380205" cy="82296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84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60603A9-13AB-8A95-3ED7-E1473FD06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996" y="492087"/>
            <a:ext cx="8240275" cy="3143689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C9FF6E5-BA31-054A-6CBC-6DCB6D65F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996" y="4114800"/>
            <a:ext cx="8240275" cy="33532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578685-2C39-E31A-82C3-C160D50044BA}"/>
              </a:ext>
            </a:extLst>
          </p:cNvPr>
          <p:cNvSpPr txBox="1"/>
          <p:nvPr/>
        </p:nvSpPr>
        <p:spPr>
          <a:xfrm>
            <a:off x="541421" y="1804737"/>
            <a:ext cx="2875547" cy="369332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ADD TRANSACTION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84F5AF-2248-CA6D-4CC9-D0BCCB33D5EE}"/>
              </a:ext>
            </a:extLst>
          </p:cNvPr>
          <p:cNvSpPr txBox="1"/>
          <p:nvPr/>
        </p:nvSpPr>
        <p:spPr>
          <a:xfrm>
            <a:off x="360947" y="4908884"/>
            <a:ext cx="3056021" cy="369332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  <a:ea typeface="ADLaM Display" panose="020F0502020204030204" pitchFamily="2" charset="0"/>
                <a:cs typeface="Times New Roman" panose="02020603050405020304" pitchFamily="18" charset="0"/>
              </a:rPr>
              <a:t>EDIT TRANSACTION</a:t>
            </a:r>
          </a:p>
        </p:txBody>
      </p:sp>
    </p:spTree>
    <p:extLst>
      <p:ext uri="{BB962C8B-B14F-4D97-AF65-F5344CB8AC3E}">
        <p14:creationId xmlns:p14="http://schemas.microsoft.com/office/powerpoint/2010/main" val="2289537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ABEEF6-C144-0CDA-4661-F74034632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32" y="772159"/>
            <a:ext cx="12613735" cy="66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89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FD7E55A-DF8F-36D1-9AFB-E6023D99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26" y="968083"/>
            <a:ext cx="8745170" cy="3381847"/>
          </a:xfrm>
          <a:prstGeom prst="rect">
            <a:avLst/>
          </a:prstGeom>
        </p:spPr>
      </p:pic>
      <p:pic>
        <p:nvPicPr>
          <p:cNvPr id="5" name="Picture 4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449C26CB-1A64-EDD6-2530-75FBD6F06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226" y="5043792"/>
            <a:ext cx="8833333" cy="1644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896E80-11B0-41EC-4995-A6B7A76BA04C}"/>
              </a:ext>
            </a:extLst>
          </p:cNvPr>
          <p:cNvSpPr txBox="1"/>
          <p:nvPr/>
        </p:nvSpPr>
        <p:spPr>
          <a:xfrm>
            <a:off x="412168" y="2181496"/>
            <a:ext cx="3840480" cy="369332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SPIKE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32A84-BA1A-B3B2-DFB0-A0FCB708B7DD}"/>
              </a:ext>
            </a:extLst>
          </p:cNvPr>
          <p:cNvSpPr txBox="1"/>
          <p:nvPr/>
        </p:nvSpPr>
        <p:spPr>
          <a:xfrm>
            <a:off x="496389" y="5120642"/>
            <a:ext cx="3840480" cy="369332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FINANCIAL HEALTH SCORE</a:t>
            </a:r>
          </a:p>
        </p:txBody>
      </p:sp>
    </p:spTree>
    <p:extLst>
      <p:ext uri="{BB962C8B-B14F-4D97-AF65-F5344CB8AC3E}">
        <p14:creationId xmlns:p14="http://schemas.microsoft.com/office/powerpoint/2010/main" val="1028828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1E0BCC2-989B-12FB-47F1-CF7E9DACD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877" y="751241"/>
            <a:ext cx="10353667" cy="2762668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994811C-13F0-F467-568F-5E956EF0F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877" y="3918856"/>
            <a:ext cx="10417039" cy="2664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951F90-D1A9-49BE-CBFE-44C5FED93783}"/>
              </a:ext>
            </a:extLst>
          </p:cNvPr>
          <p:cNvSpPr txBox="1"/>
          <p:nvPr/>
        </p:nvSpPr>
        <p:spPr>
          <a:xfrm>
            <a:off x="274664" y="1658982"/>
            <a:ext cx="2651760" cy="369332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SMART BILL REMINDER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770AE-5302-23E8-98FF-8CAA58348DFB}"/>
              </a:ext>
            </a:extLst>
          </p:cNvPr>
          <p:cNvSpPr txBox="1"/>
          <p:nvPr/>
        </p:nvSpPr>
        <p:spPr>
          <a:xfrm>
            <a:off x="160095" y="4785682"/>
            <a:ext cx="2880898" cy="369332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PARETO INSIGHT</a:t>
            </a:r>
          </a:p>
        </p:txBody>
      </p:sp>
    </p:spTree>
    <p:extLst>
      <p:ext uri="{BB962C8B-B14F-4D97-AF65-F5344CB8AC3E}">
        <p14:creationId xmlns:p14="http://schemas.microsoft.com/office/powerpoint/2010/main" val="1869945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Wallpapers - Top Free Thank You Backgrounds - WallpaperAccess">
            <a:extLst>
              <a:ext uri="{FF2B5EF4-FFF2-40B4-BE49-F238E27FC236}">
                <a16:creationId xmlns:a16="http://schemas.microsoft.com/office/drawing/2014/main" id="{41EB8668-4AB1-A302-5F11-60CB7FE31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62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634</Words>
  <Application>Microsoft Office PowerPoint</Application>
  <PresentationFormat>Custom</PresentationFormat>
  <Paragraphs>130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Poppins Light</vt:lpstr>
      <vt:lpstr>Aptos Display</vt:lpstr>
      <vt:lpstr>Roboto Light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Jaweria Goraya</dc:creator>
  <cp:lastModifiedBy>Fiza Luqman</cp:lastModifiedBy>
  <cp:revision>5</cp:revision>
  <dcterms:created xsi:type="dcterms:W3CDTF">2025-12-10T15:24:50Z</dcterms:created>
  <dcterms:modified xsi:type="dcterms:W3CDTF">2025-12-10T17:24:08Z</dcterms:modified>
</cp:coreProperties>
</file>